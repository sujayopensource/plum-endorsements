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0" y="2103120"/>
            <a:ext cx="5760720" cy="73152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667EEA"/>
                </a:solidFill>
                <a:latin typeface="Calibri"/>
              </a:defRPr>
            </a:pPr>
            <a:r>
              <a:t>Plum Endorsement</a:t>
            </a:r>
            <a:br/>
            <a:r>
              <a:t>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02336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B3B3B3"/>
                </a:solidFill>
                <a:latin typeface="Calibri"/>
              </a:defRPr>
            </a:pPr>
            <a:r>
              <a:t>Architecture  |  Live Demo  |  AI/Ollama  | 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5029200"/>
            <a:ext cx="21031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57607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The Four Hard Problems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1. Coverage Gap  </a:t>
            </a:r>
            <a:r>
              <a:rPr sz="1700" b="0">
                <a:solidFill>
                  <a:srgbClr val="B3B3B3"/>
                </a:solidFill>
                <a:latin typeface="Calibri"/>
              </a:rPr>
              <a:t>Employee joins, endorsement created, but insurer takes days to confirm. During that window, the employee has no coverage.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2. Financial Drain  </a:t>
            </a:r>
            <a:r>
              <a:rPr sz="1700" b="0">
                <a:solidFill>
                  <a:srgbClr val="B3B3B3"/>
                </a:solidFill>
                <a:latin typeface="Calibri"/>
              </a:rPr>
              <a:t>Each ADD endorsement locks premium in an EA account. Without optimization, employers maintain a massive float.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3. Multi-Insurer Chaos  </a:t>
            </a:r>
            <a:r>
              <a:rPr sz="1700" b="0">
                <a:solidFill>
                  <a:srgbClr val="B3B3B3"/>
                </a:solidFill>
                <a:latin typeface="Calibri"/>
              </a:rPr>
              <a:t>4+ insurers, each with different APIs: REST, SOAP, CSV/SFTP. Different SLAs, different batch constraints.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4. Invisible Failures  </a:t>
            </a:r>
            <a:r>
              <a:rPr sz="1700" b="0">
                <a:solidFill>
                  <a:srgbClr val="B3B3B3"/>
                </a:solidFill>
                <a:latin typeface="Calibri"/>
              </a:rPr>
              <a:t>Submissions fail silently. Nobody knows until month-end reconciliation.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1 -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System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27 REST Endpoints  </a:t>
            </a:r>
            <a:r>
              <a:rPr sz="1700" b="0">
                <a:solidFill>
                  <a:srgbClr val="B3B3B3"/>
                </a:solidFill>
                <a:latin typeface="Calibri"/>
              </a:rPr>
              <a:t>5 controllers covering full endorsement lifecycle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4 Insurer Integrations  </a:t>
            </a:r>
            <a:r>
              <a:rPr sz="1700" b="0">
                <a:solidFill>
                  <a:srgbClr val="B3B3B3"/>
                </a:solidFill>
                <a:latin typeface="Calibri"/>
              </a:rPr>
              <a:t>ICICI Lombard (REST), Niva Bupa (CSV/SFTP), Bajaj Allianz (SOAP), Mock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13 Database Tables  </a:t>
            </a:r>
            <a:r>
              <a:rPr sz="1700" b="0">
                <a:solidFill>
                  <a:srgbClr val="B3B3B3"/>
                </a:solidFill>
                <a:latin typeface="Calibri"/>
              </a:rPr>
              <a:t>PostgreSQL 16 with Flyway migrations, optimistic locking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4 Kafka Topics  </a:t>
            </a:r>
            <a:r>
              <a:rPr sz="1700" b="0">
                <a:solidFill>
                  <a:srgbClr val="B3B3B3"/>
                </a:solidFill>
                <a:latin typeface="Calibri"/>
              </a:rPr>
              <a:t>88 partitions, employer-ID partitioning, acks=all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5 AI Modules  </a:t>
            </a:r>
            <a:r>
              <a:rPr sz="1700" b="0">
                <a:solidFill>
                  <a:srgbClr val="B3B3B3"/>
                </a:solidFill>
                <a:latin typeface="Calibri"/>
              </a:rPr>
              <a:t>2 with Ollama GenAI augmentation, 3 rule-based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7 Grafana Dashboards  </a:t>
            </a:r>
            <a:r>
              <a:rPr sz="1700" b="0">
                <a:solidFill>
                  <a:srgbClr val="B3B3B3"/>
                </a:solidFill>
                <a:latin typeface="Calibri"/>
              </a:rPr>
              <a:t>40+ custom metrics, distributed tracing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800+ Tests  </a:t>
            </a:r>
            <a:r>
              <a:rPr sz="1700" b="0">
                <a:solidFill>
                  <a:srgbClr val="B3B3B3"/>
                </a:solidFill>
                <a:latin typeface="Calibri"/>
              </a:rPr>
              <a:t>Unit + API + BDD + E2E + Performance. Zero failures.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1 -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2 -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64008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667EEA"/>
                </a:solidFill>
                <a:latin typeface="Calibri"/>
              </a:defRPr>
            </a:pPr>
            <a:r>
              <a:t>C4 Model — System Context (Level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808080"/>
                </a:solidFill>
                <a:latin typeface="Calibri"/>
              </a:defRPr>
            </a:pPr>
            <a:r>
              <a:t>Who uses the system and what it connects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737360"/>
            <a:ext cx="96012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┌──────────────┐     ┌──────────────┐     ┌──────────────┐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│  HR Admins    │     │  Finance      │     │  Ops Teams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│  Create &amp;     │     │  EA Balance   │     │  Monitor &amp;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│  manage       │     │  management   │     │  resolve  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└──────┬───────┘     └──────┬───────┘     └──────┬───────┘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│                   │                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└───────────────────┼────────────────────┘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               ▼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┌─────────────────────────────┐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│   PLUM ENDORSEMENT SYSTEM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│                           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│  React UI + Spring Boot API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│  Kafka Events + PostgreSQL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│  5 Intelligence Pillars   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└──────────────┬──────────────┘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                 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┌────────────────────┼────────────────────┐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       ▼                    ▼                    ▼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┌──────────────┐  ┌──────────────┐  ┌──────────────────┐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│ ICICI Lombard │  │  Niva Bupa    │  │ Bajaj Allianz  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│  REST/JSON    │  │  CSV/SFTP     │  │   SOAP/XML         │</a:t>
            </a:r>
          </a:p>
          <a:p>
            <a:pPr>
              <a:lnSpc>
                <a:spcPts val="1739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C4B5FD"/>
                </a:solidFill>
                <a:latin typeface="SF Mono"/>
              </a:defRPr>
            </a:pPr>
            <a:r>
              <a:t>  └──────────────┘  └──────────────┘  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2 -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C4 Model — Container Diagram (Level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BF24"/>
                </a:solidFill>
                <a:latin typeface="Calibri"/>
              </a:defRPr>
            </a:pPr>
            <a:r>
              <a:t>Application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React 19 SPA  </a:t>
            </a:r>
            <a:r>
              <a:rPr sz="1500" b="0">
                <a:solidFill>
                  <a:srgbClr val="B3B3B3"/>
                </a:solidFill>
                <a:latin typeface="Calibri"/>
              </a:rPr>
              <a:t>TanStack Table + shadcn/ui (:5173)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Spring Boot 3.4  </a:t>
            </a:r>
            <a:r>
              <a:rPr sz="1500" b="0">
                <a:solidFill>
                  <a:srgbClr val="B3B3B3"/>
                </a:solidFill>
                <a:latin typeface="Calibri"/>
              </a:rPr>
              <a:t>Java 21 + Virtual Threads (:8080)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5 Controllers  </a:t>
            </a:r>
            <a:r>
              <a:rPr sz="1500" b="0">
                <a:solidFill>
                  <a:srgbClr val="B3B3B3"/>
                </a:solidFill>
                <a:latin typeface="Calibri"/>
              </a:rPr>
              <a:t>27 REST Endpoints, RFC 7807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3 CQRS Handlers  </a:t>
            </a:r>
            <a:r>
              <a:rPr sz="1500" b="0">
                <a:solidFill>
                  <a:srgbClr val="B3B3B3"/>
                </a:solidFill>
                <a:latin typeface="Calibri"/>
              </a:rPr>
              <a:t>8 Schedulers, 5 Services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Ollama GenAI  </a:t>
            </a:r>
            <a:r>
              <a:rPr sz="1500" b="0">
                <a:solidFill>
                  <a:srgbClr val="B3B3B3"/>
                </a:solidFill>
                <a:latin typeface="Calibri"/>
              </a:rPr>
              <a:t>2 adapters deployed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BF24"/>
                </a:solidFill>
                <a:latin typeface="Calibri"/>
              </a:defRPr>
            </a:pPr>
            <a:r>
              <a:t>Data &amp; Observability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PostgreSQL 16  </a:t>
            </a:r>
            <a:r>
              <a:rPr sz="1500" b="0">
                <a:solidFill>
                  <a:srgbClr val="B3B3B3"/>
                </a:solidFill>
                <a:latin typeface="Calibri"/>
              </a:rPr>
              <a:t>13 tables, Flyway migrations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Redis 7  </a:t>
            </a:r>
            <a:r>
              <a:rPr sz="1500" b="0">
                <a:solidFill>
                  <a:srgbClr val="B3B3B3"/>
                </a:solidFill>
                <a:latin typeface="Calibri"/>
              </a:rPr>
              <a:t>Distributed cache, 60s TTL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Kafka KRaft  </a:t>
            </a:r>
            <a:r>
              <a:rPr sz="1500" b="0">
                <a:solidFill>
                  <a:srgbClr val="B3B3B3"/>
                </a:solidFill>
                <a:latin typeface="Calibri"/>
              </a:rPr>
              <a:t>4 topics, 88 partitions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Prometheus :9090  </a:t>
            </a:r>
            <a:r>
              <a:rPr sz="1500" b="0">
                <a:solidFill>
                  <a:srgbClr val="B3B3B3"/>
                </a:solidFill>
                <a:latin typeface="Calibri"/>
              </a:rPr>
              <a:t>15s scrape, 40+ metrics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Grafana :3000  </a:t>
            </a:r>
            <a:r>
              <a:rPr sz="1500" b="0">
                <a:solidFill>
                  <a:srgbClr val="B3B3B3"/>
                </a:solidFill>
                <a:latin typeface="Calibri"/>
              </a:rPr>
              <a:t>7 dashboards, auto-provisioned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Jaeger :16686  </a:t>
            </a:r>
            <a:r>
              <a:rPr sz="1500" b="0">
                <a:solidFill>
                  <a:srgbClr val="B3B3B3"/>
                </a:solidFill>
                <a:latin typeface="Calibri"/>
              </a:rPr>
              <a:t>100% sampling, trace propagation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ELK Stack  </a:t>
            </a:r>
            <a:r>
              <a:rPr sz="1500" b="0">
                <a:solidFill>
                  <a:srgbClr val="B3B3B3"/>
                </a:solidFill>
                <a:latin typeface="Calibri"/>
              </a:rPr>
              <a:t>Elasticsearch + Logstash + Kibana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2 -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C4 Component — Hexagonal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371600"/>
            <a:ext cx="7589520" cy="82296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7EEA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691640"/>
            <a:ext cx="7223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5 Controllers  ·  27 Endpoints  ·  RFC 7807 Error Handling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377440"/>
            <a:ext cx="8503920" cy="82296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2423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764BA2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69748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3 Handlers (CQRS)  ·  5 Services  ·  8 Schedulers  |  Stateless  ·  @Transactional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383280"/>
            <a:ext cx="9418320" cy="100584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3429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4D399"/>
                </a:solidFill>
                <a:latin typeface="Calibri"/>
              </a:defRPr>
            </a:pPr>
            <a:r>
              <a:t>Domain 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703320"/>
            <a:ext cx="9052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Endorsement (11-state)  ·  EAAccount  ·  18 Ports  ·  EndorsementEvent sealed (24 types)  |  &gt;&gt;&gt; ZERO infrastructure imports &lt;&lt;&lt;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572000"/>
            <a:ext cx="10332720" cy="164592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BBF24"/>
                </a:solidFill>
                <a:latin typeface="Calibri"/>
              </a:defRPr>
            </a:pPr>
            <a:r>
              <a:t>Infrastructure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9204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JPA: 10 adapters + mappers   |   Insurer: Mock · ICICI · Niva · Bajaj</a:t>
            </a:r>
            <a:br/>
            <a:r>
              <a:t>Kafka: 4 topics, 88 parts   |   Intelligence: 5 rule-based + 2 Ollama GenAI</a:t>
            </a:r>
            <a:br/>
            <a:r>
              <a:t>Resilience: Circuit Breakers + 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2 -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Design Patterns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Design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Strategy  </a:t>
            </a:r>
            <a:r>
              <a:rPr sz="1500" b="0">
                <a:solidFill>
                  <a:srgbClr val="B3B3B3"/>
                </a:solidFill>
                <a:latin typeface="Calibri"/>
              </a:rPr>
              <a:t>InsurerPort — add insurer = add class + DB row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State  </a:t>
            </a:r>
            <a:r>
              <a:rPr sz="1500" b="0">
                <a:solidFill>
                  <a:srgbClr val="B3B3B3"/>
                </a:solidFill>
                <a:latin typeface="Calibri"/>
              </a:rPr>
              <a:t>11-state lifecycle with canTransitionTo()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Observer  </a:t>
            </a:r>
            <a:r>
              <a:rPr sz="1500" b="0">
                <a:solidFill>
                  <a:srgbClr val="B3B3B3"/>
                </a:solidFill>
                <a:latin typeface="Calibri"/>
              </a:rPr>
              <a:t>EventPublisher → Kafka → consumers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Factory  </a:t>
            </a:r>
            <a:r>
              <a:rPr sz="1500" b="0">
                <a:solidFill>
                  <a:srgbClr val="B3B3B3"/>
                </a:solidFill>
                <a:latin typeface="Calibri"/>
              </a:rPr>
              <a:t>InsurerRouter.resolve() from DB config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Adapter  </a:t>
            </a:r>
            <a:r>
              <a:rPr sz="1500" b="0">
                <a:solidFill>
                  <a:srgbClr val="B3B3B3"/>
                </a:solidFill>
                <a:latin typeface="Calibri"/>
              </a:rPr>
              <a:t>Domain never imports infrastructure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CQRS  </a:t>
            </a:r>
            <a:r>
              <a:rPr sz="1500" b="0">
                <a:solidFill>
                  <a:srgbClr val="B3B3B3"/>
                </a:solidFill>
                <a:latin typeface="Calibri"/>
              </a:rPr>
              <a:t>Command handlers vs read-only QueryHandler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Java 21  </a:t>
            </a:r>
            <a:r>
              <a:rPr sz="1500" b="0">
                <a:solidFill>
                  <a:srgbClr val="B3B3B3"/>
                </a:solidFill>
                <a:latin typeface="Calibri"/>
              </a:rPr>
              <a:t>Virtual Threads — 1M+ concurrent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Spring Boot 3.4  </a:t>
            </a:r>
            <a:r>
              <a:rPr sz="1500" b="0">
                <a:solidFill>
                  <a:srgbClr val="B3B3B3"/>
                </a:solidFill>
                <a:latin typeface="Calibri"/>
              </a:rPr>
              <a:t>Actuator, virtual thread support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PostgreSQL 16  </a:t>
            </a:r>
            <a:r>
              <a:rPr sz="1500" b="0">
                <a:solidFill>
                  <a:srgbClr val="B3B3B3"/>
                </a:solidFill>
                <a:latin typeface="Calibri"/>
              </a:rPr>
              <a:t>ACID, optimistic locking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Kafka KRaft  </a:t>
            </a:r>
            <a:r>
              <a:rPr sz="1500" b="0">
                <a:solidFill>
                  <a:srgbClr val="B3B3B3"/>
                </a:solidFill>
                <a:latin typeface="Calibri"/>
              </a:rPr>
              <a:t>32 partitions, employerId key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Resilience4j  </a:t>
            </a:r>
            <a:r>
              <a:rPr sz="1500" b="0">
                <a:solidFill>
                  <a:srgbClr val="B3B3B3"/>
                </a:solidFill>
                <a:latin typeface="Calibri"/>
              </a:rPr>
              <a:t>Per-insurer circuit breakers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ZGC  </a:t>
            </a:r>
            <a:r>
              <a:rPr sz="1500" b="0">
                <a:solidFill>
                  <a:srgbClr val="B3B3B3"/>
                </a:solidFill>
                <a:latin typeface="Calibri"/>
              </a:rPr>
              <a:t>Sub-millisecond GC pauses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3 - Lifecycle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Complete Endorsement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645920" cy="91440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B3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B3B3B3"/>
                </a:solidFill>
                <a:latin typeface="Calibri"/>
              </a:defRPr>
            </a:pPr>
            <a:r>
              <a:t>CREATED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77440" y="2103120"/>
            <a:ext cx="1645920" cy="91440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B3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B3B3B3"/>
                </a:solidFill>
                <a:latin typeface="Calibri"/>
              </a:defRPr>
            </a:pPr>
            <a:r>
              <a:t>VALIDATED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103120"/>
            <a:ext cx="1645920" cy="91440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34D399"/>
                </a:solidFill>
                <a:latin typeface="Calibri"/>
              </a:defRPr>
            </a:pPr>
            <a:r>
              <a:t>PROVISIONALLY</a:t>
            </a:r>
            <a:br/>
            <a:r>
              <a:t>COVERED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1645920" cy="91440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667EEA"/>
                </a:solidFill>
                <a:latin typeface="Calibri"/>
              </a:defRPr>
            </a:pPr>
            <a:r>
              <a:t>SUBMITTED</a:t>
            </a:r>
            <a:br/>
            <a:r>
              <a:t>TO INSURER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103120"/>
            <a:ext cx="1645920" cy="91440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764BA2"/>
                </a:solidFill>
                <a:latin typeface="Calibri"/>
              </a:defRPr>
            </a:pPr>
            <a:r>
              <a:t>INSURER</a:t>
            </a:r>
            <a:br/>
            <a:r>
              <a:t>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8080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0" y="2103120"/>
            <a:ext cx="1645920" cy="91440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400"/>
              </a:spcBef>
              <a:defRPr sz="1200" b="1">
                <a:solidFill>
                  <a:srgbClr val="4ADE80"/>
                </a:solidFill>
                <a:latin typeface="Calibri"/>
              </a:defRPr>
            </a:pPr>
            <a:r>
              <a:t>CONFIRMED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Idempotency  </a:t>
            </a:r>
            <a:r>
              <a:rPr sz="1500" b="0">
                <a:solidFill>
                  <a:srgbClr val="B3B3B3"/>
                </a:solidFill>
                <a:latin typeface="Calibri"/>
              </a:rPr>
              <a:t>Duplicate check via unique key at CREATED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Provisional Coverage  </a:t>
            </a:r>
            <a:r>
              <a:rPr sz="1500" b="0">
                <a:solidFill>
                  <a:srgbClr val="B3B3B3"/>
                </a:solidFill>
                <a:latin typeface="Calibri"/>
              </a:rPr>
              <a:t>Employee covered immediately at step 3, not at confirmation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Strategy Pattern  </a:t>
            </a:r>
            <a:r>
              <a:rPr sz="1500" b="0">
                <a:solidFill>
                  <a:srgbClr val="B3B3B3"/>
                </a:solidFill>
                <a:latin typeface="Calibri"/>
              </a:rPr>
              <a:t>InsurerRouter resolves adapter; handler never knows the protocol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State Machine  </a:t>
            </a:r>
            <a:r>
              <a:rPr sz="1500" b="0">
                <a:solidFill>
                  <a:srgbClr val="B3B3B3"/>
                </a:solidFill>
                <a:latin typeface="Calibri"/>
              </a:rPr>
              <a:t>canTransitionTo() validates every transition at compile time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Batch Path  </a:t>
            </a:r>
            <a:r>
              <a:rPr sz="1500" b="0">
                <a:solidFill>
                  <a:srgbClr val="B3B3B3"/>
                </a:solidFill>
                <a:latin typeface="Calibri"/>
              </a:rPr>
              <a:t>For batch-only insurers: Queued → Batch Submitted →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Provisional Coverage: Key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The Problem  </a:t>
            </a:r>
            <a:r>
              <a:rPr sz="1700" b="0">
                <a:solidFill>
                  <a:srgbClr val="B3B3B3"/>
                </a:solidFill>
                <a:latin typeface="Calibri"/>
              </a:rPr>
              <a:t>Insurer confirmation takes 1–5 days. Employee has no coverage during that window.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Our Solution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Provisional coverage activated at endorsement creation, before insurer response.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30-Day Safety Net  </a:t>
            </a:r>
            <a:r>
              <a:rPr sz="1700" b="0">
                <a:solidFill>
                  <a:srgbClr val="B3B3B3"/>
                </a:solidFill>
                <a:latin typeface="Calibri"/>
              </a:rPr>
              <a:t>Provisional coverage auto-expires after 30 days if insurer never confirms.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Upgrade on Confirmation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When insurer confirms, provisional → confirmed. Seamless for employee.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Batch Path  </a:t>
            </a:r>
            <a:r>
              <a:rPr sz="1700" b="0">
                <a:solidFill>
                  <a:srgbClr val="B3B3B3"/>
                </a:solidFill>
                <a:latin typeface="Calibri"/>
              </a:rPr>
              <a:t>For batch-only insurers (Niva Bupa): Queued for Batch → Batch Submitted every 15 min → Confirmed. Coverage active the entire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3 - Lifecycle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4 - EA Balance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EA Balance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Optimization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Naive Approach  </a:t>
            </a:r>
            <a:r>
              <a:rPr sz="1500" b="0">
                <a:solidFill>
                  <a:srgbClr val="B3B3B3"/>
                </a:solidFill>
                <a:latin typeface="Calibri"/>
              </a:rPr>
              <a:t>60 ADDs × ₹1,000 = ₹60,000 peak balance required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With Optimization  </a:t>
            </a:r>
            <a:r>
              <a:rPr sz="1500" b="0">
                <a:solidFill>
                  <a:srgbClr val="B3B3B3"/>
                </a:solidFill>
                <a:latin typeface="Calibri"/>
              </a:rPr>
              <a:t>Process 40 DELETEs first → +₹32,000 credit released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Net Requirement  </a:t>
            </a:r>
            <a:r>
              <a:rPr sz="1500" b="0">
                <a:solidFill>
                  <a:srgbClr val="B3B3B3"/>
                </a:solidFill>
                <a:latin typeface="Calibri"/>
              </a:rPr>
              <a:t>₹28,000 — 53% savings in float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Algorithm  </a:t>
            </a:r>
            <a:r>
              <a:rPr sz="1500" b="0">
                <a:solidFill>
                  <a:srgbClr val="B3B3B3"/>
                </a:solidFill>
                <a:latin typeface="Calibri"/>
              </a:rPr>
              <a:t>0/1 Knapsack with dynamic programming, 15-minute scheduler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Scoring &amp; Visibility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Priority Order  </a:t>
            </a:r>
            <a:r>
              <a:rPr sz="1500" b="0">
                <a:solidFill>
                  <a:srgbClr val="B3B3B3"/>
                </a:solidFill>
                <a:latin typeface="Calibri"/>
              </a:rPr>
              <a:t>DELETEs first (free balance) → cost-neutral UPDATEs → ADDs by urgency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Composite Score  </a:t>
            </a:r>
            <a:r>
              <a:rPr sz="1500" b="0">
                <a:solidFill>
                  <a:srgbClr val="B3B3B3"/>
                </a:solidFill>
                <a:latin typeface="Calibri"/>
              </a:rPr>
              <a:t>Urgency weight 60% + EA impact weight 40%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EA Lookup  </a:t>
            </a:r>
            <a:r>
              <a:rPr sz="1500" b="0">
                <a:solidFill>
                  <a:srgbClr val="B3B3B3"/>
                </a:solidFill>
                <a:latin typeface="Calibri"/>
              </a:rPr>
              <a:t>3 KPI cards: Total Balance, Reserved Amount, Available Balance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4572000"/>
            <a:ext cx="4846320" cy="137160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466344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4D399"/>
                </a:solidFill>
                <a:latin typeface="Calibri"/>
              </a:defRPr>
            </a:pPr>
            <a:r>
              <a:t>53% Reduction in EA Float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52120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3B3B3"/>
                </a:solidFill>
                <a:latin typeface="Calibri"/>
              </a:defRPr>
            </a:pPr>
            <a:r>
              <a:t>₹60,000 → ₹28,000 through priority ordering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5 - Visibility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Real-Time Visibility: 10 UI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Dashboard  </a:t>
            </a:r>
            <a:r>
              <a:rPr sz="1400" b="0">
                <a:solidFill>
                  <a:srgbClr val="B3B3B3"/>
                </a:solidFill>
                <a:latin typeface="Calibri"/>
              </a:rPr>
              <a:t>KPI cards: total, pending, confirmed, failed + EA balance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Create Endorsement  </a:t>
            </a:r>
            <a:r>
              <a:rPr sz="1400" b="0">
                <a:solidFill>
                  <a:srgbClr val="B3B3B3"/>
                </a:solidFill>
                <a:latin typeface="Calibri"/>
              </a:rPr>
              <a:t>Progressive disclosure form, adapts by type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Endorsement Detail  </a:t>
            </a:r>
            <a:r>
              <a:rPr sz="1400" b="0">
                <a:solidFill>
                  <a:srgbClr val="B3B3B3"/>
                </a:solidFill>
                <a:latin typeface="Calibri"/>
              </a:rPr>
              <a:t>Status timeline, insurer reference, full history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Endorsement List  </a:t>
            </a:r>
            <a:r>
              <a:rPr sz="1400" b="0">
                <a:solidFill>
                  <a:srgbClr val="B3B3B3"/>
                </a:solidFill>
                <a:latin typeface="Calibri"/>
              </a:rPr>
              <a:t>Sortable TanStack Table, status filters, CSV export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Batch Progress  </a:t>
            </a:r>
            <a:r>
              <a:rPr sz="1400" b="0">
                <a:solidFill>
                  <a:srgbClr val="B3B3B3"/>
                </a:solidFill>
                <a:latin typeface="Calibri"/>
              </a:rPr>
              <a:t>Batch status: Submitted, Completed, Failed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Insurer Config  </a:t>
            </a:r>
            <a:r>
              <a:rPr sz="1400" b="0">
                <a:solidFill>
                  <a:srgbClr val="B3B3B3"/>
                </a:solidFill>
                <a:latin typeface="Calibri"/>
              </a:rPr>
              <a:t>4 insurers with capabilities, rate limits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EA Account Lookup  </a:t>
            </a:r>
            <a:r>
              <a:rPr sz="1400" b="0">
                <a:solidFill>
                  <a:srgbClr val="B3B3B3"/>
                </a:solidFill>
                <a:latin typeface="Calibri"/>
              </a:rPr>
              <a:t>Balance, reserved, available with progress bar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Reconciliation  </a:t>
            </a:r>
            <a:r>
              <a:rPr sz="1400" b="0">
                <a:solidFill>
                  <a:srgbClr val="B3B3B3"/>
                </a:solidFill>
                <a:latin typeface="Calibri"/>
              </a:rPr>
              <a:t>Matched, Partial, Rejected, Missing counts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Intelligence Hub  </a:t>
            </a:r>
            <a:r>
              <a:rPr sz="1400" b="0">
                <a:solidFill>
                  <a:srgbClr val="B3B3B3"/>
                </a:solidFill>
                <a:latin typeface="Calibri"/>
              </a:rPr>
              <a:t>5 tabs: Anomalies, Forecasts, Errors, Process, Health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Audit Log  </a:t>
            </a:r>
            <a:r>
              <a:rPr sz="1400" b="0">
                <a:solidFill>
                  <a:srgbClr val="B3B3B3"/>
                </a:solidFill>
                <a:latin typeface="Calibri"/>
              </a:rPr>
              <a:t>Full event history with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Intelligence &amp; AI: 5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Anomaly Detection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5 rules (Volume Spike, ADD/DELETE Cycling, Suspicious Timing, Unusual Premium, Dormancy Break)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Balance Forecasting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30-day EA projection with dual seasonality (day-of-week + monthly)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Error Resolution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5 error patterns with confidence scoring, auto-apply above 95%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Process Mining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STP rate tracking, per-insurer optimization, transition metrics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Employer Health Score  </a:t>
            </a:r>
            <a:r>
              <a:rPr sz="1700" b="0">
                <a:solidFill>
                  <a:srgbClr val="B3B3B3"/>
                </a:solidFill>
                <a:latin typeface="Calibri"/>
              </a:rPr>
              <a:t>Composite score from endorsement patterns, EA utilization, error 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6 -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How We Use Ollama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Runtime  </a:t>
            </a:r>
            <a:r>
              <a:rPr sz="1700" b="0">
                <a:solidFill>
                  <a:srgbClr val="B3B3B3"/>
                </a:solidFill>
                <a:latin typeface="Calibri"/>
              </a:rPr>
              <a:t>Docker container running llama3.2 model locally — zero cloud API costs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Integration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Spring AI Ollama starter with ChatClient.Builder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Activation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@ConditionalOnProperty — activated via 'ollama' Spring profile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Deployed Adapters  </a:t>
            </a:r>
            <a:r>
              <a:rPr sz="1700" b="0">
                <a:solidFill>
                  <a:srgbClr val="B3B3B3"/>
                </a:solidFill>
                <a:latin typeface="Calibri"/>
              </a:rPr>
              <a:t>OllamaAugmentedAnomalyDetector + OllamaErrorResolver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Resilience  </a:t>
            </a:r>
            <a:r>
              <a:rPr sz="1700" b="0">
                <a:solidFill>
                  <a:srgbClr val="B3B3B3"/>
                </a:solidFill>
                <a:latin typeface="Calibri"/>
              </a:rPr>
              <a:t>@CircuitBreaker + @Retry with graceful fallback to rule-based results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Config  </a:t>
            </a:r>
            <a:r>
              <a:rPr sz="1700" b="0">
                <a:solidFill>
                  <a:srgbClr val="B3B3B3"/>
                </a:solidFill>
                <a:latin typeface="Calibri"/>
              </a:rPr>
              <a:t>Temperature 0.3 for deterministic output, 512 token max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6 -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Volume Spike  </a:t>
            </a:r>
            <a:r>
              <a:rPr sz="1700" b="0">
                <a:solidFill>
                  <a:srgbClr val="B3B3B3"/>
                </a:solidFill>
                <a:latin typeface="Calibri"/>
              </a:rPr>
              <a:t>Detects unusual endorsement volume for an employer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ADD/DELETE Cycling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Flags repeated add-then-delete patterns suggesting premium arbitrage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Suspicious Timing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Off-hours or weekend submissions flagged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Unusual Premium  </a:t>
            </a:r>
            <a:r>
              <a:rPr sz="1700" b="0">
                <a:solidFill>
                  <a:srgbClr val="B3B3B3"/>
                </a:solidFill>
                <a:latin typeface="Calibri"/>
              </a:rPr>
              <a:t>Premium amounts outside historical norms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Dormancy Break  </a:t>
            </a:r>
            <a:r>
              <a:rPr sz="1700" b="0">
                <a:solidFill>
                  <a:srgbClr val="B3B3B3"/>
                </a:solidFill>
                <a:latin typeface="Calibri"/>
              </a:rPr>
              <a:t>Sudden activity from long-dormant employers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Ollama Enrichment  </a:t>
            </a:r>
            <a:r>
              <a:rPr sz="1700" b="0">
                <a:solidFill>
                  <a:srgbClr val="B3B3B3"/>
                </a:solidFill>
                <a:latin typeface="Calibri"/>
              </a:rPr>
              <a:t>Anomalies scoring &gt; 0.7 sent to LLM for human-readable explanation and action recommendation. Narrative layer — enriches, not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6 -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6 -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Forecasting &amp; Error Resolution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Balance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30-Day Projection  </a:t>
            </a:r>
            <a:r>
              <a:rPr sz="1500" b="0">
                <a:solidFill>
                  <a:srgbClr val="B3B3B3"/>
                </a:solidFill>
                <a:latin typeface="Calibri"/>
              </a:rPr>
              <a:t>EA balance forecast using historical data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Dual Seasonality  </a:t>
            </a:r>
            <a:r>
              <a:rPr sz="1500" b="0">
                <a:solidFill>
                  <a:srgbClr val="B3B3B3"/>
                </a:solidFill>
                <a:latin typeface="Calibri"/>
              </a:rPr>
              <a:t>Day-of-week (Mon=1.2x) + monthly (Apr=1.4x fiscal year)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Top-Up Alerts  </a:t>
            </a:r>
            <a:r>
              <a:rPr sz="1500" b="0">
                <a:solidFill>
                  <a:srgbClr val="B3B3B3"/>
                </a:solidFill>
                <a:latin typeface="Calibri"/>
              </a:rPr>
              <a:t>Shortfall detection triggers proactive notifications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Error Resolution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5 Error Patterns  </a:t>
            </a:r>
            <a:r>
              <a:rPr sz="1500" b="0">
                <a:solidFill>
                  <a:srgbClr val="B3B3B3"/>
                </a:solidFill>
                <a:latin typeface="Calibri"/>
              </a:rPr>
              <a:t>Date format, missing field, duplicate, invalid amount, timeout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Confidence Scoring  </a:t>
            </a:r>
            <a:r>
              <a:rPr sz="1500" b="0">
                <a:solidFill>
                  <a:srgbClr val="B3B3B3"/>
                </a:solidFill>
                <a:latin typeface="Calibri"/>
              </a:rPr>
              <a:t>Above 95% → auto-applied; below → human approval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Success Tracking  </a:t>
            </a:r>
            <a:r>
              <a:rPr sz="1500" b="0">
                <a:solidFill>
                  <a:srgbClr val="B3B3B3"/>
                </a:solidFill>
                <a:latin typeface="Calibri"/>
              </a:rPr>
              <a:t>Feedback loop tracks auto-resolution success/failure rates</a:t>
            </a:r>
          </a:p>
          <a:p>
            <a:pPr>
              <a:spcBef>
                <a:spcPts val="200"/>
              </a:spcBef>
              <a:spcAft>
                <a:spcPts val="10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Ollama Resolver  </a:t>
            </a:r>
            <a:r>
              <a:rPr sz="1500" b="0">
                <a:solidFill>
                  <a:srgbClr val="B3B3B3"/>
                </a:solidFill>
                <a:latin typeface="Calibri"/>
              </a:rPr>
              <a:t>Ambiguous cases (&lt;95%) analyzed by LLM for specific fix with reasoning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6 - Intelligence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Process Mining &amp; 3-Stage AI 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Process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STP Rate  </a:t>
            </a:r>
            <a:r>
              <a:rPr sz="1500" b="0">
                <a:solidFill>
                  <a:srgbClr val="B3B3B3"/>
                </a:solidFill>
                <a:latin typeface="Calibri"/>
              </a:rPr>
              <a:t>% of endorsements completing without human intervention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Per-Insurer Cards  </a:t>
            </a:r>
            <a:r>
              <a:rPr sz="1500" b="0">
                <a:solidFill>
                  <a:srgbClr val="B3B3B3"/>
                </a:solidFill>
                <a:latin typeface="Calibri"/>
              </a:rPr>
              <a:t>Focus optimization on lowest-performing insurers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30-Day Trend  </a:t>
            </a:r>
            <a:r>
              <a:rPr sz="1500" b="0">
                <a:solidFill>
                  <a:srgbClr val="B3B3B3"/>
                </a:solidFill>
                <a:latin typeface="Calibri"/>
              </a:rPr>
              <a:t>STP trajectory chart showing improvement over time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Transition Metrics  </a:t>
            </a:r>
            <a:r>
              <a:rPr sz="1500" b="0">
                <a:solidFill>
                  <a:srgbClr val="B3B3B3"/>
                </a:solidFill>
                <a:latin typeface="Calibri"/>
              </a:rPr>
              <a:t>Measures every state change for bottleneck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BBF24"/>
                </a:solidFill>
                <a:latin typeface="Calibri"/>
              </a:defRPr>
            </a:pPr>
            <a:r>
              <a:t>3-Stage Evolution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06240"/>
            <a:ext cx="10058400" cy="68580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B3B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251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3B3B3"/>
                </a:solidFill>
                <a:latin typeface="Calibri"/>
              </a:defRPr>
            </a:pPr>
            <a:r>
              <a:t>Stage 1: Rule-Based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5262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5 adapters deployed, zero ML deps, production-ready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983480"/>
            <a:ext cx="10058400" cy="68580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4D399"/>
                </a:solidFill>
                <a:latin typeface="Calibri"/>
              </a:defRPr>
            </a:pPr>
            <a:r>
              <a:t>Stage 2: Ollama GenAI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303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2 deployed (anomaly + error), 3 planned. Local LLM, no cloud costs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760720"/>
            <a:ext cx="10058400" cy="68580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06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667EEA"/>
                </a:solidFill>
                <a:latin typeface="Calibri"/>
              </a:defRPr>
            </a:pPr>
            <a:r>
              <a:t>Stage 3: Full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080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Isolation Forest, Prophet, RAG, PM4Py, OR-Tools. Adapter swap behind same 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Observability: 9 Docker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PostgreSQL :5432  </a:t>
            </a:r>
            <a:r>
              <a:rPr sz="1700" b="0">
                <a:solidFill>
                  <a:srgbClr val="B3B3B3"/>
                </a:solidFill>
                <a:latin typeface="Calibri"/>
              </a:rPr>
              <a:t>13 tables, Flyway migrations, ACID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Redis :6379  </a:t>
            </a:r>
            <a:r>
              <a:rPr sz="1700" b="0">
                <a:solidFill>
                  <a:srgbClr val="B3B3B3"/>
                </a:solidFill>
                <a:latin typeface="Calibri"/>
              </a:rPr>
              <a:t>Distributed cache, 60s TTL, @Cacheable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Kafka :9092  </a:t>
            </a:r>
            <a:r>
              <a:rPr sz="1700" b="0">
                <a:solidFill>
                  <a:srgbClr val="B3B3B3"/>
                </a:solidFill>
                <a:latin typeface="Calibri"/>
              </a:rPr>
              <a:t>KRaft mode, 4 topics, 88 partitions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Prometheus :9090  </a:t>
            </a:r>
            <a:r>
              <a:rPr sz="1700" b="0">
                <a:solidFill>
                  <a:srgbClr val="B3B3B3"/>
                </a:solidFill>
                <a:latin typeface="Calibri"/>
              </a:rPr>
              <a:t>15s scrape interval, 40+ custom metrics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Grafana :3000  </a:t>
            </a:r>
            <a:r>
              <a:rPr sz="1700" b="0">
                <a:solidFill>
                  <a:srgbClr val="B3B3B3"/>
                </a:solidFill>
                <a:latin typeface="Calibri"/>
              </a:rPr>
              <a:t>7 auto-provisioned dashboards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Jaeger :16686  </a:t>
            </a:r>
            <a:r>
              <a:rPr sz="1700" b="0">
                <a:solidFill>
                  <a:srgbClr val="B3B3B3"/>
                </a:solidFill>
                <a:latin typeface="Calibri"/>
              </a:rPr>
              <a:t>100% sampling, distributed tracing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Elasticsearch :9200  </a:t>
            </a:r>
            <a:r>
              <a:rPr sz="1700" b="0">
                <a:solidFill>
                  <a:srgbClr val="B3B3B3"/>
                </a:solidFill>
                <a:latin typeface="Calibri"/>
              </a:rPr>
              <a:t>Log aggregation, structured JSON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Logstash :5000  </a:t>
            </a:r>
            <a:r>
              <a:rPr sz="1700" b="0">
                <a:solidFill>
                  <a:srgbClr val="B3B3B3"/>
                </a:solidFill>
                <a:latin typeface="Calibri"/>
              </a:rPr>
              <a:t>Log pipeline with TCP input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Kibana :5601  </a:t>
            </a:r>
            <a:r>
              <a:rPr sz="1700" b="0">
                <a:solidFill>
                  <a:srgbClr val="B3B3B3"/>
                </a:solidFill>
                <a:latin typeface="Calibri"/>
              </a:rPr>
              <a:t>Log visualization and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7 -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Grafana Dashboards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Application Overview  </a:t>
            </a:r>
            <a:r>
              <a:rPr sz="1700" b="0">
                <a:solidFill>
                  <a:srgbClr val="B3B3B3"/>
                </a:solidFill>
                <a:latin typeface="Calibri"/>
              </a:rPr>
              <a:t>Request rate, P95 latency, error rate, JVM heap, threads, DB pool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Business Metrics  </a:t>
            </a:r>
            <a:r>
              <a:rPr sz="1700" b="0">
                <a:solidFill>
                  <a:srgbClr val="B3B3B3"/>
                </a:solidFill>
                <a:latin typeface="Calibri"/>
              </a:rPr>
              <a:t>Creation rate by type, endorsements by status, insurer submission latency (Bajaj 250ms vs ICICI 150ms)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Intelligence Monitoring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Anomaly detection rate, forecast shortfall detections, error auto-resolution gauge, STP trend, batch optimization savings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Infrastructure Health  </a:t>
            </a:r>
            <a:r>
              <a:rPr sz="1700" b="0">
                <a:solidFill>
                  <a:srgbClr val="B3B3B3"/>
                </a:solidFill>
                <a:latin typeface="Calibri"/>
              </a:rPr>
              <a:t>Kafka consumer lag, PostgreSQL connections, Redis hit rate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Multi-Insurer  </a:t>
            </a:r>
            <a:r>
              <a:rPr sz="1700" b="0">
                <a:solidFill>
                  <a:srgbClr val="B3B3B3"/>
                </a:solidFill>
                <a:latin typeface="Calibri"/>
              </a:rPr>
              <a:t>Per-insurer submission rates, circuit breaker states, SLA compliance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Reconciliation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Match rates, discrepancy trends, resolution time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Scheduler  </a:t>
            </a:r>
            <a:r>
              <a:rPr sz="1700" b="0">
                <a:solidFill>
                  <a:srgbClr val="B3B3B3"/>
                </a:solidFill>
                <a:latin typeface="Calibri"/>
              </a:rPr>
              <a:t>Batch assembly timing, anomaly scan duration, forecast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7 -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Distributed Tracing: Jaeger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100% Sampling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Every request traced end-to-end, no sampling loss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OpenTelemetry  </a:t>
            </a:r>
            <a:r>
              <a:rPr sz="1700" b="0">
                <a:solidFill>
                  <a:srgbClr val="B3B3B3"/>
                </a:solidFill>
                <a:latin typeface="Calibri"/>
              </a:rPr>
              <a:t>Micrometer tracing bridge with OTLP exporter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MDC Propagation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traceId, spanId, requestId, endorsementId, employerId in every log line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Correlation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Search by endorsement ID to see full request journey across services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Structured Logging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JSON format in production via Logstash encoder, human-readable in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7 - Observability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Scalability: 1M Endorsements/Day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Stateless Services  </a:t>
            </a:r>
            <a:r>
              <a:rPr sz="1700" b="0">
                <a:solidFill>
                  <a:srgbClr val="B3B3B3"/>
                </a:solidFill>
                <a:latin typeface="Calibri"/>
              </a:rPr>
              <a:t>All private final fields. No mutable instance state. Horizontal scaling.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Java 21 Virtual Threads  </a:t>
            </a:r>
            <a:r>
              <a:rPr sz="1700" b="0">
                <a:solidFill>
                  <a:srgbClr val="B3B3B3"/>
                </a:solidFill>
                <a:latin typeface="Calibri"/>
              </a:rPr>
              <a:t>1M+ concurrent operations, no thread pool tuning required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Kafka Partitioning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32 partitions per topic, employer-ID key for per-employer ordering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Optimistic Locking  </a:t>
            </a:r>
            <a:r>
              <a:rPr sz="1700" b="0">
                <a:solidFill>
                  <a:srgbClr val="B3B3B3"/>
                </a:solidFill>
                <a:latin typeface="Calibri"/>
              </a:rPr>
              <a:t>Version-based concurrency on Endorsement and EAAccount entities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Idempotency Keys  </a:t>
            </a:r>
            <a:r>
              <a:rPr sz="1700" b="0">
                <a:solidFill>
                  <a:srgbClr val="B3B3B3"/>
                </a:solidFill>
                <a:latin typeface="Calibri"/>
              </a:rPr>
              <a:t>UNIQUE constraint, safe retries across network failures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K8s HPA  </a:t>
            </a:r>
            <a:r>
              <a:rPr sz="1700" b="0">
                <a:solidFill>
                  <a:srgbClr val="B3B3B3"/>
                </a:solidFill>
                <a:latin typeface="Calibri"/>
              </a:rPr>
              <a:t>Auto-scale from 2 to 8 pods at 70% CPU threshold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8 -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8 - Scalability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Per-Insurer Circuit Breakers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286000" cy="640080"/>
          </a:xfrm>
          <a:prstGeom prst="rect">
            <a:avLst/>
          </a:prstGeom>
          <a:solidFill>
            <a:srgbClr val="201E50"/>
          </a:solidFill>
          <a:ln w="127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Insurer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645920"/>
            <a:ext cx="2011680" cy="640080"/>
          </a:xfrm>
          <a:prstGeom prst="rect">
            <a:avLst/>
          </a:prstGeom>
          <a:solidFill>
            <a:srgbClr val="201E50"/>
          </a:solidFill>
          <a:ln w="127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Failure Threshold</a:t>
            </a:r>
          </a:p>
        </p:txBody>
      </p:sp>
      <p:sp>
        <p:nvSpPr>
          <p:cNvPr id="7" name="Rectangle 6"/>
          <p:cNvSpPr/>
          <p:nvPr/>
        </p:nvSpPr>
        <p:spPr>
          <a:xfrm>
            <a:off x="5212080" y="1645920"/>
            <a:ext cx="1828800" cy="640080"/>
          </a:xfrm>
          <a:prstGeom prst="rect">
            <a:avLst/>
          </a:prstGeom>
          <a:solidFill>
            <a:srgbClr val="201E50"/>
          </a:solidFill>
          <a:ln w="127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Window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7040880" y="1645920"/>
            <a:ext cx="1828800" cy="640080"/>
          </a:xfrm>
          <a:prstGeom prst="rect">
            <a:avLst/>
          </a:prstGeom>
          <a:solidFill>
            <a:srgbClr val="201E50"/>
          </a:solidFill>
          <a:ln w="127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Wait (Open)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645920"/>
            <a:ext cx="1828800" cy="640080"/>
          </a:xfrm>
          <a:prstGeom prst="rect">
            <a:avLst/>
          </a:prstGeom>
          <a:solidFill>
            <a:srgbClr val="201E50"/>
          </a:solidFill>
          <a:ln w="127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BBF24"/>
                </a:solidFill>
                <a:latin typeface="Calibri"/>
              </a:defRPr>
            </a:pPr>
            <a:r>
              <a:t>Retry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286000"/>
            <a:ext cx="22860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5B4FC"/>
                </a:solidFill>
                <a:latin typeface="Calibri"/>
              </a:defRPr>
            </a:pPr>
            <a:r>
              <a:t>ICICI Lombard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286000"/>
            <a:ext cx="201168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212080" y="228600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20 calls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228600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228600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3 attempts, exp backoff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926080"/>
            <a:ext cx="22860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5B4FC"/>
                </a:solidFill>
                <a:latin typeface="Calibri"/>
              </a:defRPr>
            </a:pPr>
            <a:r>
              <a:t>Bajaj Allianz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2926080"/>
            <a:ext cx="201168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292608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15 calls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40880" y="292608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45s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292608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5 attempts, exp backoff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566160"/>
            <a:ext cx="22860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5B4FC"/>
                </a:solidFill>
                <a:latin typeface="Calibri"/>
              </a:defRPr>
            </a:pPr>
            <a:r>
              <a:t>Mock (default)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566160"/>
            <a:ext cx="201168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50%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12080" y="356616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10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40880" y="356616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30s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69680" y="3566160"/>
            <a:ext cx="1828800" cy="640080"/>
          </a:xfrm>
          <a:prstGeom prst="rect">
            <a:avLst/>
          </a:prstGeom>
          <a:solidFill>
            <a:srgbClr val="141238"/>
          </a:solidFill>
          <a:ln w="6350">
            <a:solidFill>
              <a:srgbClr val="302E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0">
                <a:solidFill>
                  <a:srgbClr val="B3B3B3"/>
                </a:solidFill>
                <a:latin typeface="Calibri"/>
              </a:defRPr>
            </a:pPr>
            <a:r>
              <a:t>3 attempts, exp backoff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97680"/>
            <a:ext cx="97840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Typed Fallback  </a:t>
            </a:r>
            <a:r>
              <a:rPr sz="1500" b="0">
                <a:solidFill>
                  <a:srgbClr val="B3B3B3"/>
                </a:solidFill>
                <a:latin typeface="Calibri"/>
              </a:rPr>
              <a:t>Every @CircuitBreaker method has a typed fallback that returns same type + Throwable. Never throws from a fallback.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Per-Insurer Tuning  </a:t>
            </a:r>
            <a:r>
              <a:rPr sz="1500" b="0">
                <a:solidFill>
                  <a:srgbClr val="B3B3B3"/>
                </a:solidFill>
                <a:latin typeface="Calibri"/>
              </a:rPr>
              <a:t>Each insurer tuned to its reliability profile. SOAP (Bajaj) gets lower threshold and longer wait.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Actuator Visibility  </a:t>
            </a:r>
            <a:r>
              <a:rPr sz="1500" b="0">
                <a:solidFill>
                  <a:srgbClr val="B3B3B3"/>
                </a:solidFill>
                <a:latin typeface="Calibri"/>
              </a:rPr>
              <a:t>/actuator/circuitbreakers exposes real-time state. Alert on OPEN.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9 - Tests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Test Coverage: 800+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371600"/>
            <a:ext cx="5760720" cy="77724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4173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4D399"/>
                </a:solidFill>
                <a:latin typeface="Calibri"/>
              </a:defRPr>
            </a:pPr>
            <a:r>
              <a:t>420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5B4FC"/>
                </a:solidFill>
                <a:latin typeface="Calibri"/>
              </a:defRPr>
            </a:pPr>
            <a:r>
              <a:t>Unit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7373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JUnit 5 + Mockito + AssertJ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331720"/>
            <a:ext cx="6675120" cy="77724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2377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4D399"/>
                </a:solidFill>
                <a:latin typeface="Calibri"/>
              </a:defRPr>
            </a:pPr>
            <a:r>
              <a:t>124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5B4FC"/>
                </a:solidFill>
                <a:latin typeface="Calibri"/>
              </a:defRPr>
            </a:pPr>
            <a:r>
              <a:t>API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REST Assured + Testcontainers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291840"/>
            <a:ext cx="7589520" cy="77724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4D399"/>
                </a:solidFill>
                <a:latin typeface="Calibri"/>
              </a:defRPr>
            </a:pPr>
            <a:r>
              <a:t>92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5B4FC"/>
                </a:solidFill>
                <a:latin typeface="Calibri"/>
              </a:defRPr>
            </a:pPr>
            <a:r>
              <a:t>BDD 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657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Cucumber — 22 feature files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251960"/>
            <a:ext cx="8503920" cy="77724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42976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4D399"/>
                </a:solidFill>
                <a:latin typeface="Calibri"/>
              </a:defRPr>
            </a:pPr>
            <a:r>
              <a:t>158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5B4FC"/>
                </a:solidFill>
                <a:latin typeface="Calibri"/>
              </a:defRPr>
            </a:pPr>
            <a:r>
              <a:t>E2E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6177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Playwright — 30 spec 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5212080"/>
            <a:ext cx="9418320" cy="777240"/>
          </a:xfrm>
          <a:prstGeom prst="roundRect">
            <a:avLst/>
          </a:prstGeom>
          <a:solidFill>
            <a:srgbClr val="1A1840"/>
          </a:solidFill>
          <a:ln w="1905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52578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4D39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A5B4FC"/>
                </a:solidFill>
                <a:latin typeface="Calibri"/>
              </a:defRPr>
            </a:pPr>
            <a:r>
              <a:t>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577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3B3B3"/>
                </a:solidFill>
                <a:latin typeface="Calibri"/>
              </a:defRPr>
            </a:pPr>
            <a:r>
              <a:t>Gatling simulations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6217920"/>
            <a:ext cx="4846320" cy="54864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62636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DE80"/>
                </a:solidFill>
                <a:latin typeface="Calibri"/>
              </a:defRPr>
            </a:pPr>
            <a:r>
              <a:t>TOTAL: 800+   |   ZERO FAILURES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Allure Combined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Docker Service  </a:t>
            </a:r>
            <a:r>
              <a:rPr sz="1700" b="0">
                <a:solidFill>
                  <a:srgbClr val="B3B3B3"/>
                </a:solidFill>
                <a:latin typeface="Calibri"/>
              </a:rPr>
              <a:t>Allure Docker Service at :5050 with combined report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API Section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124 REST Assured tests with request/response payloads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BDD Section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92 Cucumber scenarios with step-by-step execution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E2E Section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158 Playwright tests with screenshots on failure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Performance Section  </a:t>
            </a:r>
            <a:r>
              <a:rPr sz="1700" b="0">
                <a:solidFill>
                  <a:srgbClr val="B3B3B3"/>
                </a:solidFill>
                <a:latin typeface="Calibri"/>
              </a:rPr>
              <a:t>6 Gatling simulations with response time distributions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Single Command  </a:t>
            </a:r>
            <a:r>
              <a:rPr sz="1700" b="0">
                <a:solidFill>
                  <a:srgbClr val="B3B3B3"/>
                </a:solidFill>
                <a:latin typeface="Calibri"/>
              </a:rPr>
              <a:t>./run-all-tests.sh builds, runs all suites, and publishes combined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9 -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AI Automation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Anomaly → ML  </a:t>
            </a:r>
            <a:r>
              <a:rPr sz="1700" b="0">
                <a:solidFill>
                  <a:srgbClr val="B3B3B3"/>
                </a:solidFill>
                <a:latin typeface="Calibri"/>
              </a:rPr>
              <a:t>Isolation Forest unsupervised learning → Autoencoder 2nd-stage → Graph-based fraud network detection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Forecasting → ML  </a:t>
            </a:r>
            <a:r>
              <a:rPr sz="1700" b="0">
                <a:solidFill>
                  <a:srgbClr val="B3B3B3"/>
                </a:solidFill>
                <a:latin typeface="Calibri"/>
              </a:rPr>
              <a:t>Facebook Prophet multi-seasonality → LSTM neural networks → Ensemble methods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Error Resolution → RAG  </a:t>
            </a:r>
            <a:r>
              <a:rPr sz="1700" b="0">
                <a:solidFill>
                  <a:srgbClr val="B3B3B3"/>
                </a:solidFill>
                <a:latin typeface="Calibri"/>
              </a:rPr>
              <a:t>Retrieval-Augmented Generation with vector database of past resolutions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Process Mining → PM4Py  </a:t>
            </a:r>
            <a:r>
              <a:rPr sz="1700" b="0">
                <a:solidFill>
                  <a:srgbClr val="B3B3B3"/>
                </a:solidFill>
                <a:latin typeface="Calibri"/>
              </a:rPr>
              <a:t>Conformance checking via Python sidecar service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Batch Optimization → OR-Tools  </a:t>
            </a:r>
            <a:r>
              <a:rPr sz="1700" b="0">
                <a:solidFill>
                  <a:srgbClr val="B3B3B3"/>
                </a:solidFill>
                <a:latin typeface="Calibri"/>
              </a:rPr>
              <a:t>Google OR-Tools linear programming replacing knapsack heuristic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10 -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10 -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ML Rollout Pattern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144000" cy="86868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4447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67EEA"/>
                </a:solidFill>
                <a:latin typeface="Calibri"/>
              </a:defRPr>
            </a:pPr>
            <a:r>
              <a:t>Phase 1: Implement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783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3B3B3"/>
                </a:solidFill>
                <a:latin typeface="Calibri"/>
              </a:defRPr>
            </a:pPr>
            <a:r>
              <a:t>New ML adapter behind existing port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468880"/>
            <a:ext cx="8595360" cy="86868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2542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64BA2"/>
                </a:solidFill>
                <a:latin typeface="Calibri"/>
              </a:defRPr>
            </a:pPr>
            <a:r>
              <a:t>Phase 2: Deploy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8803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3B3B3"/>
                </a:solidFill>
                <a:latin typeface="Calibri"/>
              </a:defRPr>
            </a:pPr>
            <a:r>
              <a:t>Feature flag via @ConditionalOnProperty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0240" y="3566160"/>
            <a:ext cx="8046720" cy="86868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639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BBF24"/>
                </a:solidFill>
                <a:latin typeface="Calibri"/>
              </a:defRPr>
            </a:pPr>
            <a:r>
              <a:t>Phase 3: Shadow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977640"/>
            <a:ext cx="7498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3B3B3"/>
                </a:solidFill>
                <a:latin typeface="Calibri"/>
              </a:defRPr>
            </a:pPr>
            <a:r>
              <a:t>Run alongside current adapter, compare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4663440"/>
            <a:ext cx="7498080" cy="86868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4D399"/>
                </a:solidFill>
                <a:latin typeface="Calibri"/>
              </a:defRPr>
            </a:pPr>
            <a:r>
              <a:t>Phase 4: Promote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50749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3B3B3"/>
                </a:solidFill>
                <a:latin typeface="Calibri"/>
              </a:defRPr>
            </a:pPr>
            <a:r>
              <a:t>Switch when metrics meet 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Cross-Cutting  </a:t>
            </a:r>
            <a:r>
              <a:rPr sz="1500" b="0">
                <a:solidFill>
                  <a:srgbClr val="B3B3B3"/>
                </a:solidFill>
                <a:latin typeface="Calibri"/>
              </a:rPr>
              <a:t>Feature Store, MLOps pipeline, A/B testing framework, natural language query interface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700" b="1">
                <a:solidFill>
                  <a:srgbClr val="A5B4FC"/>
                </a:solidFill>
                <a:latin typeface="Calibri"/>
              </a:rPr>
              <a:t>Already Proven  </a:t>
            </a:r>
            <a:r>
              <a:rPr sz="1500" b="0">
                <a:solidFill>
                  <a:srgbClr val="B3B3B3"/>
                </a:solidFill>
                <a:latin typeface="Calibri"/>
              </a:rPr>
              <a:t>Pattern validated with 2 deployed Ollama adapters. Each stage is an adapter swap — hexagonal architecture payoff.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822960"/>
            <a:ext cx="73152" cy="64008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667EEA"/>
                </a:solidFill>
                <a:latin typeface="Calibri"/>
              </a:defRPr>
            </a:pPr>
            <a:r>
              <a:t>Product Evolution Vision: Phase 4 Global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Advanced Analytics  </a:t>
            </a:r>
            <a:r>
              <a:rPr sz="1700" b="0">
                <a:solidFill>
                  <a:srgbClr val="B3B3B3"/>
                </a:solidFill>
                <a:latin typeface="Calibri"/>
              </a:rPr>
              <a:t>Complete intelligence layer to 100% coverage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Multi-Currency EA  </a:t>
            </a:r>
            <a:r>
              <a:rPr sz="1700" b="0">
                <a:solidFill>
                  <a:srgbClr val="B3B3B3"/>
                </a:solidFill>
                <a:latin typeface="Calibri"/>
              </a:rPr>
              <a:t>International employer support with currency conversion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Localized Integrations  </a:t>
            </a:r>
            <a:r>
              <a:rPr sz="1700" b="0">
                <a:solidFill>
                  <a:srgbClr val="B3B3B3"/>
                </a:solidFill>
                <a:latin typeface="Calibri"/>
              </a:rPr>
              <a:t>New market insurer integrations with country-specific protocols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Regulatory Compliance  </a:t>
            </a:r>
            <a:r>
              <a:rPr sz="1700" b="0">
                <a:solidFill>
                  <a:srgbClr val="B3B3B3"/>
                </a:solidFill>
                <a:latin typeface="Calibri"/>
              </a:rPr>
              <a:t>Country-specific compliance rules as pluggable adapters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Self-Service Portal  </a:t>
            </a:r>
            <a:r>
              <a:rPr sz="1700" b="0">
                <a:solidFill>
                  <a:srgbClr val="B3B3B3"/>
                </a:solidFill>
                <a:latin typeface="Calibri"/>
              </a:rPr>
              <a:t>Insurer onboarding without engineering involvement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API Marketplace  </a:t>
            </a:r>
            <a:r>
              <a:rPr sz="1700" b="0">
                <a:solidFill>
                  <a:srgbClr val="B3B3B3"/>
                </a:solidFill>
                <a:latin typeface="Calibri"/>
              </a:rPr>
              <a:t>Platform API for third-party integrations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Multi-Region Deployment  </a:t>
            </a:r>
            <a:r>
              <a:rPr sz="1700" b="0">
                <a:solidFill>
                  <a:srgbClr val="B3B3B3"/>
                </a:solidFill>
                <a:latin typeface="Calibri"/>
              </a:rPr>
              <a:t>Global low-latency deployment across regions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000" b="1">
                <a:solidFill>
                  <a:srgbClr val="A5B4FC"/>
                </a:solidFill>
                <a:latin typeface="Calibri"/>
              </a:rPr>
              <a:t>Auth via Hexagonal  </a:t>
            </a:r>
            <a:r>
              <a:rPr sz="1700" b="0">
                <a:solidFill>
                  <a:srgbClr val="B3B3B3"/>
                </a:solidFill>
                <a:latin typeface="Calibri"/>
              </a:rPr>
              <a:t>JWT + OAuth2 with RBAC, designed as port + adapter 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10 -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Section 10 - Vision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Architectural Vision: 5-Year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188720" cy="82296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67EEA"/>
                </a:solidFill>
                <a:latin typeface="Calibri"/>
              </a:defRPr>
            </a:pPr>
            <a:r>
              <a:t>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325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667EEA"/>
                </a:solidFill>
                <a:latin typeface="Calibri"/>
              </a:defRPr>
            </a:pPr>
            <a:r>
              <a:t>Modular Monolith Hardening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Fitness functions, distributed locking (ShedLock), automated architecture checks in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103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31720"/>
            <a:ext cx="1188720" cy="82296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764B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764BA2"/>
                </a:solidFill>
                <a:latin typeface="Calibri"/>
              </a:defRPr>
            </a:pPr>
            <a:r>
              <a:t>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377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764BA2"/>
                </a:solidFill>
                <a:latin typeface="Calibri"/>
              </a:defRPr>
            </a:pPr>
            <a:r>
              <a:t>Service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Strangler Fig pattern, multi-region CQRS read replicas, event-driven decomposition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1546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383280"/>
            <a:ext cx="1188720" cy="82296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BBF24"/>
                </a:solidFill>
                <a:latin typeface="Calibri"/>
              </a:defRPr>
            </a:pPr>
            <a: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3429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BBF24"/>
                </a:solidFill>
                <a:latin typeface="Calibri"/>
              </a:defRPr>
            </a:pPr>
            <a:r>
              <a:t>Platform Maturity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749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API marketplace, self-service insurer onboarding, partner ecosystem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062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434840"/>
            <a:ext cx="1188720" cy="82296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1772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4D399"/>
                </a:solidFill>
                <a:latin typeface="Calibri"/>
              </a:defRPr>
            </a:pPr>
            <a:r>
              <a:t>2029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480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34D399"/>
                </a:solidFill>
                <a:latin typeface="Calibri"/>
              </a:defRPr>
            </a:pPr>
            <a:r>
              <a:t>Intelligence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4800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Data Mesh architecture, ML pipeline with feature store, real-time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257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66666"/>
                </a:solidFill>
                <a:latin typeface="Calibri"/>
              </a:defRPr>
            </a:pPr>
            <a:r>
              <a:t>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486400"/>
            <a:ext cx="1188720" cy="822960"/>
          </a:xfrm>
          <a:prstGeom prst="roundRect">
            <a:avLst/>
          </a:prstGeom>
          <a:solidFill>
            <a:srgbClr val="1A1840"/>
          </a:solidFill>
          <a:ln w="2540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66928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DE80"/>
                </a:solidFill>
                <a:latin typeface="Calibri"/>
              </a:defRPr>
            </a:pPr>
            <a:r>
              <a:t>2030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532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4ADE80"/>
                </a:solidFill>
                <a:latin typeface="Calibri"/>
              </a:defRPr>
            </a:pPr>
            <a:r>
              <a:t>Global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Active-active multi-region, autonomous operations, self-healing infrastructure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08080"/>
                </a:solidFill>
                <a:latin typeface="Calibri"/>
              </a:defRPr>
            </a:pPr>
            <a:r>
              <a:t>Thesis: Evolve from modular monolith to selectively-decomposed service platform, guided by automated fitness functions.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73152" cy="54864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667EEA"/>
                </a:solidFill>
                <a:latin typeface="Calibri"/>
              </a:defRPr>
            </a:pPr>
            <a:r>
              <a:t>Deliverable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5B4FC"/>
                </a:solidFill>
                <a:latin typeface="Calibri"/>
              </a:defRPr>
            </a:pPr>
            <a:r>
              <a:t>1.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276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Hexagonal architecture with C4 model views at Context, Container, and Component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5B4FC"/>
                </a:solidFill>
                <a:latin typeface="Calibri"/>
              </a:defRPr>
            </a:pPr>
            <a:r>
              <a:t>2. No Coverage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49631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Provisional coverage at creation with 30-day safety net. Employee covered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63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5B4FC"/>
                </a:solidFill>
                <a:latin typeface="Calibri"/>
              </a:defRPr>
            </a:pPr>
            <a:r>
              <a:t>3. EA Minimization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36499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Priority ordering with 53% savings (₹60K → ₹28K). 0/1 Knapsack DP algorithm.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886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5B4FC"/>
                </a:solidFill>
                <a:latin typeface="Calibri"/>
              </a:defRPr>
            </a:pPr>
            <a:r>
              <a:t>4. Real-Time Visibility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23367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10 UI screens + 7 Grafana dashboards + distributed tracing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754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5B4FC"/>
                </a:solidFill>
                <a:latin typeface="Calibri"/>
              </a:defRPr>
            </a:pPr>
            <a:r>
              <a:t>5. AI/Automation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10235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5 intelligence pillars, 2 Ollama GenAI adapters deployed, 3 planned. Full ML vision documented.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4ADE80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623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39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A5B4FC"/>
                </a:solidFill>
                <a:latin typeface="Calibri"/>
              </a:defRPr>
            </a:pPr>
            <a:r>
              <a:t>6. Working Prototype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971032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B3B3B3"/>
                </a:solidFill>
                <a:latin typeface="Calibri"/>
              </a:defRPr>
            </a:pPr>
            <a:r>
              <a:t>Live demo + 800+ tests + comprehensive documentation. Single-command startup.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C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2103120"/>
            <a:ext cx="393192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20"/>
              </a:lnSpc>
              <a:spcBef>
                <a:spcPts val="0"/>
              </a:spcBef>
              <a:spcAft>
                <a:spcPts val="0"/>
              </a:spcAft>
              <a:defRPr sz="5600" b="1">
                <a:solidFill>
                  <a:srgbClr val="667EEA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74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B3B3B3"/>
                </a:solidFill>
                <a:latin typeface="Calibri"/>
              </a:defRPr>
            </a:pPr>
            <a:r>
              <a:t>Production-Grade Code  ·  Hexagonal Architecture  ·  Cloud-Native Patterns  ·  Ollama GenAI Augmentation  ·  800+ Tests, Zero Failures  ·  5-Year Architectural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5029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Calibri"/>
              </a:defRPr>
            </a:pPr>
            <a:r>
              <a:t>PLUM ENDORSEMENT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